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7899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91C20"/>
                </a:solidFill>
                <a:latin typeface="Aptos"/>
              </a:rPr>
              <a:t>PatchCore 기반 산업 이상탐지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83080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C626A"/>
                </a:solidFill>
                <a:latin typeface="Aptos"/>
              </a:rPr>
              <a:t>정상 데이터만으로 구축한 metal_nut 이상탐지 및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788920"/>
            <a:ext cx="10698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30632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527D"/>
                </a:solidFill>
                <a:latin typeface="Aptos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40156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1C20"/>
                </a:solidFill>
                <a:latin typeface="Aptos"/>
              </a:rPr>
              <a:t>MVTec AD · metal_nut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977639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26A"/>
                </a:solidFill>
                <a:latin typeface="Aptos"/>
              </a:rPr>
              <a:t>Normal-only 학습  →  Memory Bank  →  Distance 기반 이상점수  →  정량평가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074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1C20"/>
                </a:solidFill>
                <a:latin typeface="Aptos"/>
              </a:rPr>
              <a:t>양진희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26A"/>
                </a:solidFill>
                <a:latin typeface="Aptos"/>
              </a:rPr>
              <a:t>PatchCore Anomaly Detection · metal_nut · MVTec 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C20"/>
                </a:solidFill>
                <a:latin typeface="Aptos"/>
              </a:rPr>
              <a:t>문제 정의 &amp; 학습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26A"/>
                </a:solidFill>
                <a:latin typeface="Aptos"/>
              </a:rPr>
              <a:t>불량 샘플이 부족한 제조 환경을 고려한 Normal-only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3527D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527D"/>
                </a:solidFill>
                <a:latin typeface="Aptos"/>
              </a:rPr>
              <a:t>WHY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1C20"/>
                </a:solidFill>
                <a:latin typeface="Aptos"/>
              </a:defRPr>
            </a:pPr>
            <a:r>
              <a:t>• 불량 데이터는 정상 데이터보다 확보가 어려움</a:t>
            </a:r>
          </a:p>
          <a:p>
            <a:pPr>
              <a:spcAft>
                <a:spcPts val="800"/>
              </a:spcAft>
              <a:defRPr sz="1600">
                <a:solidFill>
                  <a:srgbClr val="191C20"/>
                </a:solidFill>
                <a:latin typeface="Aptos"/>
              </a:defRPr>
            </a:pPr>
            <a:r>
              <a:t>• 사전에 모든 불량 유형을 정의하기 어려움</a:t>
            </a:r>
          </a:p>
          <a:p>
            <a:pPr>
              <a:spcAft>
                <a:spcPts val="800"/>
              </a:spcAft>
              <a:defRPr sz="1600">
                <a:solidFill>
                  <a:srgbClr val="191C20"/>
                </a:solidFill>
                <a:latin typeface="Aptos"/>
              </a:defRPr>
            </a:pPr>
            <a:r>
              <a:t>• 정상 패턴을 기준으로 비정상 패턴을 탐지하는 접근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527D"/>
                </a:solidFill>
                <a:latin typeface="Aptos"/>
              </a:rPr>
              <a:t>핵심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1C20"/>
                </a:solidFill>
                <a:latin typeface="Aptos"/>
              </a:rPr>
              <a:t>Train: 정상(good) 데이터만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26A"/>
                </a:solidFill>
                <a:latin typeface="Aptos"/>
              </a:rPr>
              <a:t>Test: 정상 + bent / color / flip / scratch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325880"/>
            <a:ext cx="5532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276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527D"/>
                </a:solidFill>
                <a:latin typeface="Aptos"/>
              </a:rPr>
              <a:t>DATA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148840"/>
            <a:ext cx="2743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25856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1C20"/>
                </a:solidFill>
                <a:latin typeface="Aptos"/>
              </a:rPr>
              <a:t>MVTec 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880360"/>
            <a:ext cx="2743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99008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1C20"/>
                </a:solidFill>
                <a:latin typeface="Aptos"/>
              </a:rPr>
              <a:t>train / good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611880"/>
            <a:ext cx="2743200" cy="502920"/>
          </a:xfrm>
          <a:prstGeom prst="roundRect">
            <a:avLst/>
          </a:prstGeom>
          <a:solidFill>
            <a:srgbClr val="ECF2F8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72160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1C20"/>
                </a:solidFill>
                <a:latin typeface="Aptos"/>
              </a:rPr>
              <a:t>PatchCore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343400"/>
            <a:ext cx="2743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445312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1C20"/>
                </a:solidFill>
                <a:latin typeface="Aptos"/>
              </a:rPr>
              <a:t>Memory Bank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2651760"/>
            <a:ext cx="0" cy="210312"/>
          </a:xfrm>
          <a:prstGeom prst="line">
            <a:avLst/>
          </a:prstGeom>
          <a:ln w="25400">
            <a:solidFill>
              <a:srgbClr val="23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69680" y="3383280"/>
            <a:ext cx="0" cy="210312"/>
          </a:xfrm>
          <a:prstGeom prst="line">
            <a:avLst/>
          </a:prstGeom>
          <a:ln w="25400">
            <a:solidFill>
              <a:srgbClr val="23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69680" y="4114800"/>
            <a:ext cx="0" cy="210312"/>
          </a:xfrm>
          <a:prstGeom prst="line">
            <a:avLst/>
          </a:prstGeom>
          <a:ln w="25400">
            <a:solidFill>
              <a:srgbClr val="23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26A"/>
                </a:solidFill>
                <a:latin typeface="Aptos"/>
              </a:rPr>
              <a:t>PatchCore Anomaly Detection · metal_nut · MVTec 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C20"/>
                </a:solidFill>
                <a:latin typeface="Aptos"/>
              </a:rPr>
              <a:t>PatchCore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26A"/>
                </a:solidFill>
                <a:latin typeface="Aptos"/>
              </a:rPr>
              <a:t>Feature extraction → Memory Bank → Nearest Neighbor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3527D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4231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700784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527D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5740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C20"/>
                </a:solidFill>
                <a:latin typeface="Aptos"/>
              </a:rPr>
              <a:t>Feature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0604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26A"/>
                </a:solidFill>
                <a:latin typeface="Aptos"/>
              </a:rPr>
              <a:t>WideResNet-50-2
layer2 + layer3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542032"/>
            <a:ext cx="411480" cy="0"/>
          </a:xfrm>
          <a:prstGeom prst="line">
            <a:avLst/>
          </a:prstGeom>
          <a:ln w="25400">
            <a:solidFill>
              <a:srgbClr val="23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1508760"/>
            <a:ext cx="24231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00784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527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05740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C20"/>
                </a:solidFill>
                <a:latin typeface="Aptos"/>
              </a:rPr>
              <a:t>Patch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60604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26A"/>
                </a:solidFill>
                <a:latin typeface="Aptos"/>
              </a:rPr>
              <a:t>정상 이미지의
지역 특징 추출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2542032"/>
            <a:ext cx="411480" cy="0"/>
          </a:xfrm>
          <a:prstGeom prst="line">
            <a:avLst/>
          </a:prstGeom>
          <a:ln w="25400">
            <a:solidFill>
              <a:srgbClr val="23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63640" y="1508760"/>
            <a:ext cx="24231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700784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527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05740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C20"/>
                </a:solidFill>
                <a:latin typeface="Aptos"/>
              </a:rPr>
              <a:t>Coreset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60604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26A"/>
                </a:solidFill>
                <a:latin typeface="Aptos"/>
              </a:rPr>
              <a:t>대표 patch를 선택
ratio = 0.1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542032"/>
            <a:ext cx="411480" cy="0"/>
          </a:xfrm>
          <a:prstGeom prst="line">
            <a:avLst/>
          </a:prstGeom>
          <a:ln w="25400">
            <a:solidFill>
              <a:srgbClr val="23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98280" y="1508760"/>
            <a:ext cx="24231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700784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527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05740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C20"/>
                </a:solidFill>
                <a:latin typeface="Aptos"/>
              </a:rPr>
              <a:t>Memory Bank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60604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26A"/>
                </a:solidFill>
                <a:latin typeface="Aptos"/>
              </a:rPr>
              <a:t>정상 patch
reference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69080"/>
            <a:ext cx="10972800" cy="1325880"/>
          </a:xfrm>
          <a:prstGeom prst="roundRect">
            <a:avLst/>
          </a:prstGeom>
          <a:solidFill>
            <a:srgbClr val="ECF2F8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3434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527D"/>
                </a:solidFill>
                <a:latin typeface="Aptos"/>
              </a:rPr>
              <a:t>추론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279392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C20"/>
                </a:solidFill>
                <a:latin typeface="Aptos"/>
              </a:rPr>
              <a:t>Test Image → Patch Feature → Memory Bank 최근접 이웃 탐색 → Distance → Anomaly Score /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26A"/>
                </a:solidFill>
                <a:latin typeface="Aptos"/>
              </a:rPr>
              <a:t>설정: coreset ratio 0.1 · num_neighbors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26A"/>
                </a:solidFill>
                <a:latin typeface="Aptos"/>
              </a:rPr>
              <a:t>PatchCore Anomaly Detection · metal_nut · MVTec 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C20"/>
                </a:solidFill>
                <a:latin typeface="Aptos"/>
              </a:rPr>
              <a:t>Euclidean / L2 Distance 기반 Anomaly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26A"/>
                </a:solidFill>
                <a:latin typeface="Aptos"/>
              </a:rPr>
              <a:t>정상 Memory Bank와의 Feature 거리로 이상 정도를 정량화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3527D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527D"/>
                </a:solidFill>
                <a:latin typeface="Aptos"/>
              </a:rPr>
              <a:t>DISTANCE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1C20"/>
                </a:solidFill>
                <a:latin typeface="Aptos"/>
              </a:rPr>
              <a:t>d(x, mᵢ) = √ Σⱼ (xⱼ − mᵢⱼ)²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26A"/>
                </a:solidFill>
                <a:latin typeface="Aptos"/>
              </a:rPr>
              <a:t>x : 테스트 patch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26A"/>
                </a:solidFill>
                <a:latin typeface="Aptos"/>
              </a:rPr>
              <a:t>mᵢ : Memory Bank의 정상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527D"/>
                </a:solidFill>
                <a:latin typeface="Aptos"/>
              </a:rPr>
              <a:t>dmin(x) = minᵢ d(x, mᵢ)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297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C20"/>
                </a:solidFill>
                <a:latin typeface="Aptos"/>
              </a:rPr>
              <a:t>가까움 → 낮은 이상 가능성
멀어짐 → 높은 이상 가능성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532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276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527D"/>
                </a:solidFill>
                <a:latin typeface="Aptos"/>
              </a:rPr>
              <a:t>INFERENCE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148840"/>
            <a:ext cx="4526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28600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C20"/>
                </a:solidFill>
                <a:latin typeface="Aptos"/>
              </a:rPr>
              <a:t>Test 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26A"/>
                </a:solidFill>
                <a:latin typeface="Aptos"/>
              </a:rPr>
              <a:t>Feature 추출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05088" y="2697480"/>
            <a:ext cx="0" cy="210312"/>
          </a:xfrm>
          <a:prstGeom prst="line">
            <a:avLst/>
          </a:prstGeom>
          <a:ln w="25400">
            <a:solidFill>
              <a:srgbClr val="23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46520" y="2907792"/>
            <a:ext cx="4526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04495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C20"/>
                </a:solidFill>
                <a:latin typeface="Aptos"/>
              </a:rPr>
              <a:t>Nearest Normal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044952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26A"/>
                </a:solidFill>
                <a:latin typeface="Aptos"/>
              </a:rPr>
              <a:t>최근접 정상 feature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05088" y="3456432"/>
            <a:ext cx="0" cy="210312"/>
          </a:xfrm>
          <a:prstGeom prst="line">
            <a:avLst/>
          </a:prstGeom>
          <a:ln w="25400">
            <a:solidFill>
              <a:srgbClr val="23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46520" y="3666744"/>
            <a:ext cx="4526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80390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C20"/>
                </a:solidFill>
                <a:latin typeface="Aptos"/>
              </a:rPr>
              <a:t>L2 Distance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803904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26A"/>
                </a:solidFill>
                <a:latin typeface="Aptos"/>
              </a:rPr>
              <a:t>유사도 차이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05088" y="4215383"/>
            <a:ext cx="0" cy="210313"/>
          </a:xfrm>
          <a:prstGeom prst="line">
            <a:avLst/>
          </a:prstGeom>
          <a:ln w="25400">
            <a:solidFill>
              <a:srgbClr val="23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46520" y="4425696"/>
            <a:ext cx="4526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56285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C20"/>
                </a:solidFill>
                <a:latin typeface="Aptos"/>
              </a:rPr>
              <a:t>Anomaly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562856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626A"/>
                </a:solidFill>
                <a:latin typeface="Aptos"/>
              </a:rPr>
              <a:t>이미지-level 판단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26A"/>
                </a:solidFill>
                <a:latin typeface="Aptos"/>
              </a:rPr>
              <a:t>PatchCore Anomaly Detection · metal_nut · MVTec 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C20"/>
                </a:solidFill>
                <a:latin typeface="Aptos"/>
              </a:rPr>
              <a:t>정량 평가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26A"/>
                </a:solidFill>
                <a:latin typeface="Aptos"/>
              </a:rPr>
              <a:t>MVTec AD · metal_nut 테스트셋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3527D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6362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26A"/>
                </a:solidFill>
                <a:latin typeface="Aptos"/>
              </a:rPr>
              <a:t>Image AUROC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56232"/>
            <a:ext cx="21854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527D"/>
                </a:solidFill>
                <a:latin typeface="Aptos"/>
              </a:rPr>
              <a:t>0.9980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56362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26A"/>
                </a:solidFill>
                <a:latin typeface="Aptos"/>
              </a:rPr>
              <a:t>Image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856232"/>
            <a:ext cx="21854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527D"/>
                </a:solidFill>
                <a:latin typeface="Aptos"/>
              </a:rPr>
              <a:t>0.9891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56362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26A"/>
                </a:solidFill>
                <a:latin typeface="Aptos"/>
              </a:rPr>
              <a:t>Pixel AUROC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856232"/>
            <a:ext cx="21854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527D"/>
                </a:solidFill>
                <a:latin typeface="Aptos"/>
              </a:rPr>
              <a:t>0.9868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156362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26A"/>
                </a:solidFill>
                <a:latin typeface="Aptos"/>
              </a:rPr>
              <a:t>Pixel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1856232"/>
            <a:ext cx="21854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527D"/>
                </a:solidFill>
                <a:latin typeface="Aptos"/>
              </a:rPr>
              <a:t>0.8386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107442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735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527D"/>
                </a:solidFill>
                <a:latin typeface="Aptos"/>
              </a:rPr>
              <a:t>RESULT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9875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C20"/>
                </a:solidFill>
                <a:latin typeface="Aptos"/>
              </a:defRPr>
            </a:pPr>
            <a:r>
              <a:t>• Image-level 정상 / 결함 구분 성능은 높게 나타남</a:t>
            </a:r>
          </a:p>
          <a:p>
            <a:pPr>
              <a:spcAft>
                <a:spcPts val="800"/>
              </a:spcAft>
              <a:defRPr sz="1500">
                <a:solidFill>
                  <a:srgbClr val="191C20"/>
                </a:solidFill>
                <a:latin typeface="Aptos"/>
              </a:defRPr>
            </a:pPr>
            <a:r>
              <a:t>• Pixel-level에서는 결함 영역의 세밀한 위치 일치에서 상대적으로 낮은 결과 확인</a:t>
            </a:r>
          </a:p>
          <a:p>
            <a:pPr>
              <a:spcAft>
                <a:spcPts val="800"/>
              </a:spcAft>
              <a:defRPr sz="1500">
                <a:solidFill>
                  <a:srgbClr val="191C20"/>
                </a:solidFill>
                <a:latin typeface="Aptos"/>
              </a:defRPr>
            </a:pPr>
            <a:r>
              <a:t>• 따라서 '불량 여부 판단'과 '결함 위치 정밀화'를 구분해 해석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26A"/>
                </a:solidFill>
                <a:latin typeface="Aptos"/>
              </a:rPr>
              <a:t>※ 평가는 MVTec AD metal_nut 테스트 데이터 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26A"/>
                </a:solidFill>
                <a:latin typeface="Aptos"/>
              </a:rPr>
              <a:t>PatchCore Anomaly Detection · metal_nut · MVTec 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C20"/>
                </a:solidFill>
                <a:latin typeface="Aptos"/>
              </a:rPr>
              <a:t>Score Distribution &amp; Threshold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26A"/>
                </a:solidFill>
                <a:latin typeface="Aptos"/>
              </a:rPr>
              <a:t>정상/결함 score 분포와 FP/FN 변화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3527D"/>
                </a:solidFill>
                <a:latin typeface="Aptos"/>
              </a:rPr>
              <a:t>06</a:t>
            </a:r>
          </a:p>
        </p:txBody>
      </p:sp>
      <p:pic>
        <p:nvPicPr>
          <p:cNvPr id="5" name="Picture 4" descr="01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86400" cy="3291840"/>
          </a:xfrm>
          <a:prstGeom prst="rect">
            <a:avLst/>
          </a:prstGeom>
        </p:spPr>
      </p:pic>
      <p:pic>
        <p:nvPicPr>
          <p:cNvPr id="6" name="Picture 5" descr="02_threshold_fp_f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25880"/>
            <a:ext cx="5440680" cy="3264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5257800"/>
            <a:ext cx="10835640" cy="685800"/>
          </a:xfrm>
          <a:prstGeom prst="roundRect">
            <a:avLst/>
          </a:prstGeom>
          <a:solidFill>
            <a:srgbClr val="ECF2F8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68112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C20"/>
                </a:solidFill>
                <a:latin typeface="Aptos"/>
              </a:rPr>
              <a:t>정상 score는 낮은 영역, 결함 score는 높은 영역에 집중되는 경향을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26A"/>
                </a:solidFill>
                <a:latin typeface="Aptos"/>
              </a:rPr>
              <a:t>분석용 threshold ≈ 0.45 구간에서 FP/FN trade-off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26A"/>
                </a:solidFill>
                <a:latin typeface="Aptos"/>
              </a:rPr>
              <a:t>PatchCore Anomaly Detection · metal_nut · MVTec 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C20"/>
                </a:solidFill>
                <a:latin typeface="Aptos"/>
              </a:rPr>
              <a:t>추론 결과 &amp;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26A"/>
                </a:solidFill>
                <a:latin typeface="Aptos"/>
              </a:rPr>
              <a:t>Anomaly Map을 통한 위치 확인과 오류 특성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3527D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8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324612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22452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3527D"/>
                </a:solidFill>
                <a:latin typeface="Aptos"/>
              </a:rPr>
              <a:t>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0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00200"/>
            <a:ext cx="3246120" cy="2423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7720" y="422452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3527D"/>
                </a:solidFill>
                <a:latin typeface="Aptos"/>
              </a:rPr>
              <a:t>DEFECT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7160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03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600200"/>
            <a:ext cx="3246120" cy="2423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58200" y="422452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3527D"/>
                </a:solidFill>
                <a:latin typeface="Aptos"/>
              </a:rPr>
              <a:t>ANOMALY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89204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480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E6930"/>
                </a:solidFill>
                <a:latin typeface="Aptos"/>
              </a:rPr>
              <a:t>LIMITATION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505663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91C20"/>
                </a:solidFill>
                <a:latin typeface="Aptos"/>
              </a:rPr>
              <a:t>미세 결함에서는 anomaly map이 실제 결함 영역보다 넓게 나타날 수 있어 Pixel F1이 상대적으로 낮아질 수 있음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26A"/>
                </a:solidFill>
                <a:latin typeface="Aptos"/>
              </a:rPr>
              <a:t>Next: threshold calibration · localization 개선 · 실제 제조 데이터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C626A"/>
                </a:solidFill>
                <a:latin typeface="Aptos"/>
              </a:rPr>
              <a:t>PatchCore Anomaly Detection · metal_nut · MVTec 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